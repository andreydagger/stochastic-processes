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" initials="A" lastIdx="1" clrIdx="0">
    <p:extLst>
      <p:ext uri="{19B8F6BF-5375-455C-9EA6-DF929625EA0E}">
        <p15:presenceInfo xmlns:p15="http://schemas.microsoft.com/office/powerpoint/2012/main" userId="d62bb2b3c9e4b2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16T13:09:23.890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27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47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26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30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67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17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60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12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94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43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53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BA198-9A0E-49DA-8626-D2ED98912DC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A63F7-B73A-4638-8469-3EA57E419D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20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87424" y="225755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 динамики общественного мнения в социальных сетях с использованием дискретных цепей Маркова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26864" y="4645152"/>
            <a:ext cx="255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Матвеев Андрей М3439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44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Граф</a:t>
            </a:r>
            <a:r>
              <a:rPr lang="ru-RU" dirty="0"/>
              <a:t>.</a:t>
            </a:r>
            <a:r>
              <a:rPr lang="ru-RU" dirty="0" smtClean="0"/>
              <a:t> Рёбра представляют отношение подписан на</a:t>
            </a:r>
            <a:r>
              <a:rPr lang="en-US" dirty="0" smtClean="0"/>
              <a:t>/</a:t>
            </a:r>
            <a:r>
              <a:rPr lang="ru-RU" dirty="0" smtClean="0"/>
              <a:t>дружит с. Вершины представляют пользователей</a:t>
            </a:r>
          </a:p>
          <a:p>
            <a:r>
              <a:rPr lang="ru-RU" dirty="0" smtClean="0"/>
              <a:t>Каждый пользователь может быть в трёх состояниях</a:t>
            </a:r>
            <a:r>
              <a:rPr lang="en-US" dirty="0" smtClean="0"/>
              <a:t>: Unaware, Spreader, Sceptic.</a:t>
            </a:r>
          </a:p>
          <a:p>
            <a:r>
              <a:rPr lang="ru-RU" dirty="0" smtClean="0"/>
              <a:t>На каждой итерации у каждого пользователя есть вероятность перейти в какое-то другое состояние. Эта вероятность считается на основе соседей вершины этого пользователя</a:t>
            </a:r>
          </a:p>
          <a:p>
            <a:r>
              <a:rPr lang="ru-RU" dirty="0" smtClean="0"/>
              <a:t>Изначально некоторые вершины являются распространителями (</a:t>
            </a:r>
            <a:r>
              <a:rPr lang="en-US" dirty="0" smtClean="0"/>
              <a:t>Spreader),</a:t>
            </a:r>
            <a:r>
              <a:rPr lang="ru-RU" dirty="0" smtClean="0"/>
              <a:t> остальные неподозревающие </a:t>
            </a:r>
            <a:r>
              <a:rPr lang="en-US" dirty="0" smtClean="0"/>
              <a:t>(Unaware)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73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графов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Complete: </a:t>
            </a:r>
            <a:r>
              <a:rPr lang="ru-RU" dirty="0" smtClean="0"/>
              <a:t>Полный граф</a:t>
            </a:r>
          </a:p>
          <a:p>
            <a:r>
              <a:rPr lang="en-US" dirty="0" smtClean="0"/>
              <a:t>Random: </a:t>
            </a:r>
            <a:r>
              <a:rPr lang="ru-RU" dirty="0" smtClean="0"/>
              <a:t>каждое ребро существует с вероятностью </a:t>
            </a:r>
            <a:r>
              <a:rPr lang="en-US" dirty="0"/>
              <a:t>p</a:t>
            </a:r>
            <a:r>
              <a:rPr lang="en-US" dirty="0" smtClean="0"/>
              <a:t>.</a:t>
            </a:r>
          </a:p>
          <a:p>
            <a:r>
              <a:rPr lang="en-US" dirty="0" smtClean="0"/>
              <a:t>Small world: </a:t>
            </a:r>
            <a:r>
              <a:rPr lang="ru-RU" dirty="0" smtClean="0"/>
              <a:t>Регулярный граф с шумом. Граф малого мира </a:t>
            </a:r>
            <a:r>
              <a:rPr lang="ru-RU" dirty="0" err="1" smtClean="0"/>
              <a:t>Уоттса-Строгаца</a:t>
            </a:r>
            <a:endParaRPr lang="ru-RU" dirty="0" smtClean="0"/>
          </a:p>
          <a:p>
            <a:r>
              <a:rPr lang="en-US" dirty="0" smtClean="0"/>
              <a:t>Scale free: </a:t>
            </a:r>
            <a:r>
              <a:rPr lang="ru-RU" dirty="0" err="1" smtClean="0"/>
              <a:t>Безмасштабная</a:t>
            </a:r>
            <a:r>
              <a:rPr lang="ru-RU" dirty="0" smtClean="0"/>
              <a:t> сеть</a:t>
            </a:r>
            <a:r>
              <a:rPr lang="en-US" dirty="0" smtClean="0"/>
              <a:t> </a:t>
            </a:r>
            <a:r>
              <a:rPr lang="ru-RU" dirty="0" smtClean="0"/>
              <a:t>Барабаши-Альберта. Вероятность </a:t>
            </a:r>
            <a:r>
              <a:rPr lang="ru-RU" dirty="0"/>
              <a:t>того, что </a:t>
            </a:r>
            <a:r>
              <a:rPr lang="ru-RU" dirty="0" smtClean="0"/>
              <a:t>вершина </a:t>
            </a:r>
            <a:r>
              <a:rPr lang="ru-RU" dirty="0"/>
              <a:t>имеет k связей, пропорциональна k⁻ᵞ, где γ — постоянная</a:t>
            </a:r>
          </a:p>
        </p:txBody>
      </p:sp>
    </p:spTree>
    <p:extLst>
      <p:ext uri="{BB962C8B-B14F-4D97-AF65-F5344CB8AC3E}">
        <p14:creationId xmlns:p14="http://schemas.microsoft.com/office/powerpoint/2010/main" val="143811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5" y="50776"/>
            <a:ext cx="6395353" cy="3172695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1296"/>
            <a:ext cx="6687024" cy="33173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914" y="61457"/>
            <a:ext cx="5848086" cy="29011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48" y="3077349"/>
            <a:ext cx="5635752" cy="378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7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7" y="520573"/>
            <a:ext cx="11814911" cy="5861304"/>
          </a:xfrm>
        </p:spPr>
      </p:pic>
    </p:spTree>
    <p:extLst>
      <p:ext uri="{BB962C8B-B14F-4D97-AF65-F5344CB8AC3E}">
        <p14:creationId xmlns:p14="http://schemas.microsoft.com/office/powerpoint/2010/main" val="309475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8056" y="0"/>
            <a:ext cx="12472416" cy="132556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Запуск </a:t>
            </a:r>
            <a:r>
              <a:rPr lang="en-US" sz="3600" dirty="0" smtClean="0"/>
              <a:t>small world </a:t>
            </a:r>
            <a:r>
              <a:rPr lang="ru-RU" sz="3600" dirty="0" smtClean="0"/>
              <a:t>с разными вероятностями </a:t>
            </a:r>
            <a:r>
              <a:rPr lang="ru-RU" sz="4000" dirty="0" smtClean="0"/>
              <a:t>заражения</a:t>
            </a:r>
            <a:endParaRPr lang="ru-RU" sz="40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71" y="941832"/>
            <a:ext cx="11796479" cy="5852160"/>
          </a:xfrm>
        </p:spPr>
      </p:pic>
    </p:spTree>
    <p:extLst>
      <p:ext uri="{BB962C8B-B14F-4D97-AF65-F5344CB8AC3E}">
        <p14:creationId xmlns:p14="http://schemas.microsoft.com/office/powerpoint/2010/main" val="253444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304" y="-201168"/>
            <a:ext cx="1204569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Запуск </a:t>
            </a:r>
            <a:r>
              <a:rPr lang="en-US" dirty="0"/>
              <a:t>C</a:t>
            </a:r>
            <a:r>
              <a:rPr lang="en-US" dirty="0" smtClean="0"/>
              <a:t>omplete </a:t>
            </a:r>
            <a:r>
              <a:rPr lang="ru-RU" dirty="0" smtClean="0"/>
              <a:t>с </a:t>
            </a:r>
            <a:r>
              <a:rPr lang="ru-RU" dirty="0"/>
              <a:t>разными вероятностями </a:t>
            </a:r>
            <a:r>
              <a:rPr lang="ru-RU" sz="4800" dirty="0" smtClean="0"/>
              <a:t>заражения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" y="713232"/>
            <a:ext cx="11704319" cy="5806440"/>
          </a:xfrm>
        </p:spPr>
      </p:pic>
    </p:spTree>
    <p:extLst>
      <p:ext uri="{BB962C8B-B14F-4D97-AF65-F5344CB8AC3E}">
        <p14:creationId xmlns:p14="http://schemas.microsoft.com/office/powerpoint/2010/main" val="7467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008" y="-210947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/>
              <a:t>Запуск </a:t>
            </a:r>
            <a:r>
              <a:rPr lang="en-US" sz="4000" dirty="0" smtClean="0"/>
              <a:t>Scale free </a:t>
            </a:r>
            <a:r>
              <a:rPr lang="ru-RU" sz="4000" dirty="0" smtClean="0"/>
              <a:t>с разными вероятностями заражения</a:t>
            </a:r>
            <a:endParaRPr lang="ru-RU" sz="40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" y="740664"/>
            <a:ext cx="11796478" cy="5852160"/>
          </a:xfrm>
        </p:spPr>
      </p:pic>
    </p:spTree>
    <p:extLst>
      <p:ext uri="{BB962C8B-B14F-4D97-AF65-F5344CB8AC3E}">
        <p14:creationId xmlns:p14="http://schemas.microsoft.com/office/powerpoint/2010/main" val="54285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2480" y="-128651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Визуализация </a:t>
            </a:r>
            <a:r>
              <a:rPr lang="en-US" dirty="0" smtClean="0"/>
              <a:t>small world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54" y="784066"/>
            <a:ext cx="12147868" cy="6073934"/>
          </a:xfrm>
        </p:spPr>
      </p:pic>
    </p:spTree>
    <p:extLst>
      <p:ext uri="{BB962C8B-B14F-4D97-AF65-F5344CB8AC3E}">
        <p14:creationId xmlns:p14="http://schemas.microsoft.com/office/powerpoint/2010/main" val="339165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155</Words>
  <Application>Microsoft Office PowerPoint</Application>
  <PresentationFormat>Широкоэкранный</PresentationFormat>
  <Paragraphs>16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Моделирование динамики общественного мнения в социальных сетях с использованием дискретных цепей Маркова</vt:lpstr>
      <vt:lpstr>Модель</vt:lpstr>
      <vt:lpstr>Виды графов</vt:lpstr>
      <vt:lpstr>Презентация PowerPoint</vt:lpstr>
      <vt:lpstr>Презентация PowerPoint</vt:lpstr>
      <vt:lpstr>Запуск small world с разными вероятностями заражения</vt:lpstr>
      <vt:lpstr>Запуск Complete с разными вероятностями заражения</vt:lpstr>
      <vt:lpstr>Запуск Scale free с разными вероятностями заражения</vt:lpstr>
      <vt:lpstr>Визуализация small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динамики общественного мнения в социальных сетях с использованием дискретных цепей Маркова</dc:title>
  <dc:creator>Andrey</dc:creator>
  <cp:lastModifiedBy>Andrey</cp:lastModifiedBy>
  <cp:revision>9</cp:revision>
  <dcterms:created xsi:type="dcterms:W3CDTF">2026-01-16T10:18:29Z</dcterms:created>
  <dcterms:modified xsi:type="dcterms:W3CDTF">2026-01-16T13:45:17Z</dcterms:modified>
</cp:coreProperties>
</file>